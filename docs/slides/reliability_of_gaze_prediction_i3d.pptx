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liability of Gaze Prediction for Stylized and Transformed Image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Reliability of Gaze Prediction for Stylized and Transformed Images</a:t>
            </a:r>
          </a:p>
        </p:txBody>
      </p:sp>
      <p:sp>
        <p:nvSpPr>
          <p:cNvPr id="138" name="James Youngblood…"/>
          <p:cNvSpPr txBox="1"/>
          <p:nvPr>
            <p:ph type="subTitle" sz="quarter" idx="1"/>
          </p:nvPr>
        </p:nvSpPr>
        <p:spPr>
          <a:xfrm>
            <a:off x="1778000" y="7832197"/>
            <a:ext cx="10294591" cy="1816786"/>
          </a:xfrm>
          <a:prstGeom prst="rect">
            <a:avLst/>
          </a:prstGeom>
        </p:spPr>
        <p:txBody>
          <a:bodyPr/>
          <a:lstStyle/>
          <a:p>
            <a:pPr/>
            <a:r>
              <a:t>James Youngblood</a:t>
            </a:r>
          </a:p>
          <a:p>
            <a:pPr/>
            <a:r>
              <a:t>University of Utah</a:t>
            </a:r>
          </a:p>
        </p:txBody>
      </p:sp>
      <p:sp>
        <p:nvSpPr>
          <p:cNvPr id="139" name="Rogelio E. Cardona-Rivera…"/>
          <p:cNvSpPr txBox="1"/>
          <p:nvPr/>
        </p:nvSpPr>
        <p:spPr>
          <a:xfrm>
            <a:off x="12311409" y="7832197"/>
            <a:ext cx="10294591" cy="1816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ctr">
              <a:spcBef>
                <a:spcPts val="0"/>
              </a:spcBef>
              <a:defRPr sz="5400"/>
            </a:pPr>
            <a:r>
              <a:t>Rogelio E. Cardona-Rivera</a:t>
            </a:r>
          </a:p>
          <a:p>
            <a:pPr algn="ctr">
              <a:spcBef>
                <a:spcPts val="0"/>
              </a:spcBef>
              <a:defRPr sz="5400"/>
            </a:pPr>
            <a:r>
              <a:t>University of Utah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aze Prediction - Where will humans most likely fixate when viewing an image?…"/>
          <p:cNvSpPr txBox="1"/>
          <p:nvPr>
            <p:ph type="body" sz="half" idx="1"/>
          </p:nvPr>
        </p:nvSpPr>
        <p:spPr>
          <a:xfrm>
            <a:off x="12586940" y="1270000"/>
            <a:ext cx="10107961" cy="11176000"/>
          </a:xfrm>
          <a:prstGeom prst="rect">
            <a:avLst/>
          </a:prstGeom>
        </p:spPr>
        <p:txBody>
          <a:bodyPr/>
          <a:lstStyle/>
          <a:p>
            <a:pPr marL="0" indent="0" defTabSz="452627">
              <a:spcBef>
                <a:spcPts val="0"/>
              </a:spcBef>
              <a:buSzTx/>
              <a:buNone/>
              <a:defRPr sz="4950">
                <a:solidFill>
                  <a:srgbClr val="23232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Gaze Prediction</a:t>
            </a:r>
            <a:r>
              <a:t> - Where will humans most likely fixate when viewing an image?</a:t>
            </a:r>
          </a:p>
          <a:p>
            <a:pPr marL="0" indent="0" defTabSz="452627">
              <a:spcBef>
                <a:spcPts val="0"/>
              </a:spcBef>
              <a:buSzTx/>
              <a:buNone/>
              <a:defRPr sz="4950">
                <a:solidFill>
                  <a:srgbClr val="23232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</a:p>
          <a:p>
            <a:pPr marL="654843" indent="-654843" defTabSz="452627">
              <a:spcBef>
                <a:spcPts val="0"/>
              </a:spcBef>
              <a:buSzPct val="90000"/>
              <a:defRPr sz="4950">
                <a:solidFill>
                  <a:srgbClr val="23232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Gaze prediction is proxy for attention</a:t>
            </a:r>
          </a:p>
          <a:p>
            <a:pPr marL="654843" indent="-654843" defTabSz="452627">
              <a:spcBef>
                <a:spcPts val="0"/>
              </a:spcBef>
              <a:buSzPct val="90000"/>
              <a:defRPr sz="4950">
                <a:solidFill>
                  <a:srgbClr val="23232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State-of-the-art models run in 9ms (real-time!)</a:t>
            </a:r>
          </a:p>
          <a:p>
            <a:pPr marL="654843" indent="-654843" defTabSz="452627">
              <a:spcBef>
                <a:spcPts val="0"/>
              </a:spcBef>
              <a:buSzPct val="90000"/>
              <a:defRPr sz="4950">
                <a:solidFill>
                  <a:srgbClr val="23232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Models use deep learning</a:t>
            </a:r>
          </a:p>
          <a:p>
            <a:pPr marL="654843" indent="-654843" defTabSz="452627">
              <a:spcBef>
                <a:spcPts val="0"/>
              </a:spcBef>
              <a:buSzPct val="90000"/>
              <a:defRPr sz="4950">
                <a:solidFill>
                  <a:srgbClr val="23232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Concern: ~1% of training datasets are digitally produced images</a:t>
            </a:r>
          </a:p>
          <a:p>
            <a:pPr marL="654843" indent="-654843" defTabSz="452627">
              <a:spcBef>
                <a:spcPts val="0"/>
              </a:spcBef>
              <a:buSzPct val="90000"/>
              <a:defRPr sz="4950">
                <a:solidFill>
                  <a:srgbClr val="23232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18 common digital image transformations tested</a:t>
            </a:r>
          </a:p>
          <a:p>
            <a:pPr marL="654843" indent="-654843" defTabSz="452627">
              <a:spcBef>
                <a:spcPts val="0"/>
              </a:spcBef>
              <a:buSzPct val="90000"/>
              <a:defRPr sz="4950">
                <a:solidFill>
                  <a:srgbClr val="23232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Significant losses in accuracy!</a:t>
            </a:r>
          </a:p>
        </p:txBody>
      </p:sp>
      <p:pic>
        <p:nvPicPr>
          <p:cNvPr id="142" name="all_examples.png" descr="all_example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8228" y="2197552"/>
            <a:ext cx="9858811" cy="93208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